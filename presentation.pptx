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402336" cy="6858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84632"/>
            <a:ext cx="402336" cy="685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85216"/>
            <a:ext cx="402336" cy="68580"/>
          </a:xfrm>
          <a:prstGeom prst="rect">
            <a:avLst/>
          </a:prstGeom>
          <a:solidFill>
            <a:srgbClr val="ED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82C20"/>
                </a:solidFill>
                <a:latin typeface="Arial"/>
              </a:defRPr>
            </a:pPr>
            <a:r>
              <a:t>ЕВРАЗ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4297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715B4C"/>
                </a:solidFill>
                <a:latin typeface="Arial"/>
              </a:defRPr>
            </a:pPr>
            <a:r>
              <a:t>СКЛАД МЕТАЛЛОПРОКАТА / ПРОСЛЕЖИВАЕМОСТЬ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1335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82C20"/>
                </a:solidFill>
                <a:latin typeface="Arial"/>
              </a:defRPr>
            </a:pPr>
            <a:r>
              <a:t>Маркировка: надёжный код + визуальный ориентир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82496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715B4C"/>
                </a:solidFill>
                <a:latin typeface="Arial"/>
              </a:defRPr>
            </a:pPr>
            <a:r>
              <a:t>01–02 / Технология, исходный ярлык и сравнение способов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744968"/>
            <a:ext cx="13350240" cy="10972"/>
          </a:xfrm>
          <a:prstGeom prst="rect">
            <a:avLst/>
          </a:prstGeom>
          <a:solidFill>
            <a:srgbClr val="E7D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872983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15B4C"/>
                </a:solidFill>
                <a:latin typeface="Arial"/>
              </a:defRPr>
            </a:pPr>
            <a:r>
              <a:t>ПАЧКА  •  ПЛАВКА  •  ДОКУМЕНТ О КАЧЕСТВЕ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78272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715B4C"/>
                </a:solidFill>
                <a:latin typeface="Arial"/>
              </a:defRPr>
            </a:pPr>
            <a:r>
              <a:t>01 / 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67712"/>
            <a:ext cx="5943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67712"/>
            <a:ext cx="50292" cy="205740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432304"/>
            <a:ext cx="5532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Комбинированная технология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980944"/>
            <a:ext cx="5532120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482C20"/>
                </a:solidFill>
                <a:latin typeface="Arial"/>
              </a:defRPr>
            </a:pPr>
            <a:r>
              <a:t>QR / DataMatrix на металлической или прочной пластиковой бирке.</a:t>
            </a:r>
          </a:p>
          <a:p>
            <a:pPr>
              <a:spcAft>
                <a:spcPts val="400"/>
              </a:spcAft>
              <a:defRPr sz="2000" b="0">
                <a:solidFill>
                  <a:srgbClr val="482C20"/>
                </a:solidFill>
                <a:latin typeface="Arial"/>
              </a:defRPr>
            </a:pPr>
            <a:r>
              <a:t>Цветная метка на торце — для поиска издалека.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17136"/>
            <a:ext cx="5943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17136"/>
            <a:ext cx="50292" cy="196596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681728"/>
            <a:ext cx="5532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Исходный ярлык сохраняется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230368"/>
            <a:ext cx="553212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482C20"/>
                </a:solidFill>
                <a:latin typeface="Arial"/>
              </a:defRPr>
            </a:pPr>
            <a:r>
              <a:t>Стикер «Архив / Разделена на П-104-1 и П-104-2».</a:t>
            </a:r>
          </a:p>
          <a:p>
            <a:pPr>
              <a:spcAft>
                <a:spcPts val="400"/>
              </a:spcAft>
              <a:defRPr sz="1900" b="0">
                <a:solidFill>
                  <a:srgbClr val="482C20"/>
                </a:solidFill>
                <a:latin typeface="Arial"/>
              </a:defRPr>
            </a:pPr>
            <a:r>
              <a:t>Связь с заводским документом о качестве остаётся.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72084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715B4C"/>
                </a:solidFill>
                <a:latin typeface="Arial"/>
              </a:defRPr>
            </a:pPr>
            <a:r>
              <a:t>RFID не выбираем: для металла нужны специальные метки; для пилота это дороже.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8600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482C20"/>
                </a:solidFill>
                <a:latin typeface="Arial"/>
              </a:defRPr>
            </a:pPr>
            <a:r>
              <a:t>Открытый склад: сравнение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2944368"/>
            <a:ext cx="6995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2944368"/>
            <a:ext cx="6995160" cy="429768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3008376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А / QR на прочной бирке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3529584"/>
            <a:ext cx="6537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+ Недорогие расходники; быстрое сканирование;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    долговечность; чтение при частичном загрязнении.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4251960"/>
            <a:ext cx="6537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− Нужна видимость: снег и грязь надо убрать.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    Стяжка может оборваться от удара.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5212080"/>
            <a:ext cx="6995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5160" y="5212080"/>
            <a:ext cx="6995160" cy="429768"/>
          </a:xfrm>
          <a:prstGeom prst="rect">
            <a:avLst/>
          </a:prstGeom>
          <a:solidFill>
            <a:srgbClr val="4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87184" y="527608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Б / Цвет + ручной ввод номера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5797296"/>
            <a:ext cx="6537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+ Видно издалека; дёшево; для визуального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    поиска оборудование не нужно.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6519672"/>
            <a:ext cx="6537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− Краска выгорает и стирается; опечатки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    при вводе; медленная инвентаризация.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402336" cy="6858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84632"/>
            <a:ext cx="402336" cy="685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85216"/>
            <a:ext cx="402336" cy="68580"/>
          </a:xfrm>
          <a:prstGeom prst="rect">
            <a:avLst/>
          </a:prstGeom>
          <a:solidFill>
            <a:srgbClr val="ED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82C20"/>
                </a:solidFill>
                <a:latin typeface="Arial"/>
              </a:defRPr>
            </a:pPr>
            <a:r>
              <a:t>ЕВРАЗ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4297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715B4C"/>
                </a:solidFill>
                <a:latin typeface="Arial"/>
              </a:defRPr>
            </a:pPr>
            <a:r>
              <a:t>СКЛАД МЕТАЛЛОПРОКАТА / ПРОСЛЕЖИВАЕМОСТЬ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1335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82C20"/>
                </a:solidFill>
                <a:latin typeface="Arial"/>
              </a:defRPr>
            </a:pPr>
            <a:r>
              <a:t>Разделение пачки без потери прослеживаемости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82496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715B4C"/>
                </a:solidFill>
                <a:latin typeface="Arial"/>
              </a:defRPr>
            </a:pPr>
            <a:r>
              <a:t>03–04 / Структура данных и подтверждение количества и места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744968"/>
            <a:ext cx="13350240" cy="10972"/>
          </a:xfrm>
          <a:prstGeom prst="rect">
            <a:avLst/>
          </a:prstGeom>
          <a:solidFill>
            <a:srgbClr val="E7D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872983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15B4C"/>
                </a:solidFill>
                <a:latin typeface="Arial"/>
              </a:defRPr>
            </a:pPr>
            <a:r>
              <a:t>ПАЧКА  •  ПЛАВКА  •  ДОКУМЕНТ О КАЧЕСТВЕ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78272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715B4C"/>
                </a:solidFill>
                <a:latin typeface="Arial"/>
              </a:defRPr>
            </a:pPr>
            <a:r>
              <a:t>02 / 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13350240" cy="1005840"/>
          </a:xfrm>
          <a:prstGeom prst="roundRect">
            <a:avLst>
              <a:gd name="adj" fmla="val 8000"/>
            </a:avLst>
          </a:prstGeom>
          <a:solidFill>
            <a:srgbClr val="4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ПЛАВКА 12345  →  ПАРТИЯ 7  →  ПАЧКА П-104     |     СЕРТИФИКАТ № A-1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88920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E7D9C9"/>
                </a:solidFill>
                <a:latin typeface="Arial"/>
              </a:defRPr>
            </a:pPr>
            <a:r>
              <a:t>Плавка: состав, завод  •  Пачка: профиль, длина, штуки, масса, ячейка, статус  •  Сертификат: плавка и партия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82C20"/>
                </a:solidFill>
                <a:latin typeface="Arial"/>
              </a:defRPr>
            </a:pPr>
            <a:r>
              <a:t>П-104 → две дочерние записи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0507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482C20"/>
                </a:solidFill>
                <a:latin typeface="Arial"/>
              </a:defRPr>
            </a:pPr>
            <a:r>
              <a:t>Исходная: 40 шт. / 6,8 т / швеллер 16П.</a:t>
            </a:r>
          </a:p>
          <a:p>
            <a:pPr>
              <a:spcAft>
                <a:spcPts val="400"/>
              </a:spcAft>
              <a:defRPr sz="1900" b="0">
                <a:solidFill>
                  <a:srgbClr val="482C20"/>
                </a:solidFill>
                <a:latin typeface="Arial"/>
              </a:defRPr>
            </a:pPr>
            <a:r>
              <a:t>Статус после разделения: «Разделена».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28032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28032"/>
            <a:ext cx="50292" cy="1572768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992624"/>
            <a:ext cx="2926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П-104-1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541264"/>
            <a:ext cx="292607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14 шт. / 2,4 т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Зона отгрузки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828032"/>
            <a:ext cx="3337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4828032"/>
            <a:ext cx="50292" cy="1572768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992624"/>
            <a:ext cx="2926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П-104-2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5541264"/>
            <a:ext cx="292607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26 шт. / 4,4 т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Стеллаж Б-2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601968"/>
            <a:ext cx="67208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82C20"/>
                </a:solidFill>
                <a:latin typeface="Arial"/>
              </a:defRPr>
            </a:pPr>
            <a:r>
              <a:t>Обе записи: parent_id = П-104; та же плавка, партия и сертификат. Смешивание плавок блокируется.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4747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82C20"/>
                </a:solidFill>
                <a:latin typeface="Arial"/>
              </a:defRPr>
            </a:pPr>
            <a:r>
              <a:t>Сканирование ≠ пересчёт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4041648"/>
            <a:ext cx="411480" cy="4114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407822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04164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82C20"/>
                </a:solidFill>
                <a:latin typeface="Arial"/>
              </a:defRPr>
            </a:pPr>
            <a:r>
              <a:t>Сканировать 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407408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482C20"/>
                </a:solidFill>
                <a:latin typeface="Arial"/>
              </a:defRPr>
            </a:pPr>
            <a:r>
              <a:t>ТСД показывает П-104: ожидается 26 шт.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4864608"/>
            <a:ext cx="411480" cy="4114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90118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486460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82C20"/>
                </a:solidFill>
                <a:latin typeface="Arial"/>
              </a:defRPr>
            </a:pPr>
            <a:r>
              <a:t>Пересчитать металл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5230368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482C20"/>
                </a:solidFill>
                <a:latin typeface="Arial"/>
              </a:defRPr>
            </a:pPr>
            <a:r>
              <a:t>Ввести фактическое количество в ТСД.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5687568"/>
            <a:ext cx="411480" cy="4114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572414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568756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82C20"/>
                </a:solidFill>
                <a:latin typeface="Arial"/>
              </a:defRPr>
            </a:pPr>
            <a:r>
              <a:t>Сканировать ячейку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6053328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482C20"/>
                </a:solidFill>
                <a:latin typeface="Arial"/>
              </a:defRPr>
            </a:pPr>
            <a:r>
              <a:t>Подтвердить, куда физически поставлен металл.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6510528"/>
            <a:ext cx="411480" cy="4114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654710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651052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82C20"/>
                </a:solidFill>
                <a:latin typeface="Arial"/>
              </a:defRPr>
            </a:pPr>
            <a:r>
              <a:t>Сверить данные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6876288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482C20"/>
                </a:solidFill>
                <a:latin typeface="Arial"/>
              </a:defRPr>
            </a:pPr>
            <a:r>
              <a:t>Совпало — завершить; нет — блокировать до разбора.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402336" cy="6858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84632"/>
            <a:ext cx="402336" cy="685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85216"/>
            <a:ext cx="402336" cy="68580"/>
          </a:xfrm>
          <a:prstGeom prst="rect">
            <a:avLst/>
          </a:prstGeom>
          <a:solidFill>
            <a:srgbClr val="ED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82C20"/>
                </a:solidFill>
                <a:latin typeface="Arial"/>
              </a:defRPr>
            </a:pPr>
            <a:r>
              <a:t>ЕВРАЗ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4297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715B4C"/>
                </a:solidFill>
                <a:latin typeface="Arial"/>
              </a:defRPr>
            </a:pPr>
            <a:r>
              <a:t>СКЛАД МЕТАЛЛОПРОКАТА / ПРОСЛЕЖИВАЕМОСТЬ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1335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82C20"/>
                </a:solidFill>
                <a:latin typeface="Arial"/>
              </a:defRPr>
            </a:pPr>
            <a:r>
              <a:t>Нештатные ситуации и работа офлайн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82496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715B4C"/>
                </a:solidFill>
                <a:latin typeface="Arial"/>
              </a:defRPr>
            </a:pPr>
            <a:r>
              <a:t>05 / Восстановление ярлыка, расхождения и защита от дублей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744968"/>
            <a:ext cx="13350240" cy="10972"/>
          </a:xfrm>
          <a:prstGeom prst="rect">
            <a:avLst/>
          </a:prstGeom>
          <a:solidFill>
            <a:srgbClr val="E7D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872983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15B4C"/>
                </a:solidFill>
                <a:latin typeface="Arial"/>
              </a:defRPr>
            </a:pPr>
            <a:r>
              <a:t>ПАЧКА  •  ПЛАВКА  •  ДОКУМЕНТ О КАЧЕСТВЕ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78272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715B4C"/>
                </a:solidFill>
                <a:latin typeface="Arial"/>
              </a:defRPr>
            </a:pPr>
            <a:r>
              <a:t>03 / 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67712"/>
            <a:ext cx="7635240" cy="1435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67712"/>
            <a:ext cx="50292" cy="1435608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432304"/>
            <a:ext cx="7223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Нечитаемый ярлык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980944"/>
            <a:ext cx="7223759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482C20"/>
                </a:solidFill>
                <a:latin typeface="Arial"/>
              </a:defRPr>
            </a:pPr>
            <a:r>
              <a:t>Поиск по номенклатуре / плавке / партии → подтвердить пачку → напечатать новый QR-код на месте.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7635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77056"/>
            <a:ext cx="50292" cy="1600200"/>
          </a:xfrm>
          <a:prstGeom prst="rect">
            <a:avLst/>
          </a:prstGeom>
          <a:solidFill>
            <a:srgbClr val="ED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41648"/>
            <a:ext cx="7223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Расхождение: 25 вместо 26 шт.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90288"/>
            <a:ext cx="7223759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482C20"/>
                </a:solidFill>
                <a:latin typeface="Arial"/>
              </a:defRPr>
            </a:pPr>
            <a:r>
              <a:t>Указать причину: бой, ошибка смены или кража. Создать акт расхождения; закрытие — только с визой мастера / начальника склада.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7635240" cy="1682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650992"/>
            <a:ext cx="50292" cy="1682496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815583"/>
            <a:ext cx="7223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Нет связи: очередь в ТСД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6364224"/>
            <a:ext cx="722375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Действия кэшируются локально и синхронизируются после появления сети. UUID каждой операции: сервер отбрасывает дубли; повторный скан в одной операции блокируется.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331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Образец заводского ярлыка</a:t>
            </a:r>
          </a:p>
        </p:txBody>
      </p:sp>
      <p:pic>
        <p:nvPicPr>
          <p:cNvPr id="25" name="Picture 24" descr="lab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035808"/>
            <a:ext cx="5212080" cy="33175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759952" y="6565392"/>
            <a:ext cx="5074920" cy="676656"/>
          </a:xfrm>
          <a:prstGeom prst="roundRect">
            <a:avLst>
              <a:gd name="adj" fmla="val 8000"/>
            </a:avLst>
          </a:prstGeom>
          <a:solidFill>
            <a:srgbClr val="4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669340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Плавка и партия сохраняют связь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с документом о качестве.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7287768"/>
            <a:ext cx="49377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15B4C"/>
                </a:solidFill>
                <a:latin typeface="Arial"/>
              </a:defRPr>
            </a:pPr>
            <a:r>
              <a:t>Иллюстрация из предоставленного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402336" cy="6858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84632"/>
            <a:ext cx="402336" cy="685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85216"/>
            <a:ext cx="402336" cy="68580"/>
          </a:xfrm>
          <a:prstGeom prst="rect">
            <a:avLst/>
          </a:prstGeom>
          <a:solidFill>
            <a:srgbClr val="ED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82C20"/>
                </a:solidFill>
                <a:latin typeface="Arial"/>
              </a:defRPr>
            </a:pPr>
            <a:r>
              <a:t>ЕВРАЗ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4297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715B4C"/>
                </a:solidFill>
                <a:latin typeface="Arial"/>
              </a:defRPr>
            </a:pPr>
            <a:r>
              <a:t>СКЛАД МЕТАЛЛОПРОКАТА / ПРОСЛЕЖИВАЕМОСТЬ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1335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82C20"/>
                </a:solidFill>
                <a:latin typeface="Arial"/>
              </a:defRPr>
            </a:pPr>
            <a:r>
              <a:t>Пилот: 30 мест хранения за 2 месяца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82496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715B4C"/>
                </a:solidFill>
                <a:latin typeface="Arial"/>
              </a:defRPr>
            </a:pPr>
            <a:r>
              <a:t>06 / Прототип ТСД, этапы запуска и измеримые результаты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744968"/>
            <a:ext cx="13350240" cy="10972"/>
          </a:xfrm>
          <a:prstGeom prst="rect">
            <a:avLst/>
          </a:prstGeom>
          <a:solidFill>
            <a:srgbClr val="E7D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872983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15B4C"/>
                </a:solidFill>
                <a:latin typeface="Arial"/>
              </a:defRPr>
            </a:pPr>
            <a:r>
              <a:t>ПАЧКА  •  ПЛАВКА  •  ДОКУМЕНТ О КАЧЕСТВЕ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78272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715B4C"/>
                </a:solidFill>
                <a:latin typeface="Arial"/>
              </a:defRPr>
            </a:pPr>
            <a:r>
              <a:t>04 / 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4297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441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7D2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Главный экран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980944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Сканировать QR пачки</a:t>
            </a:r>
          </a:p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Приёмка • Разделение</a:t>
            </a:r>
          </a:p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Перемещение • Инвентаризация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286000"/>
            <a:ext cx="4297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441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7D2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Разделение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980944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П-104: 40 шт. → 14 + 26</a:t>
            </a:r>
          </a:p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Поля: «В отгрузку» / «В остаток»</a:t>
            </a:r>
          </a:p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Кнопка «Распечатать новые ярлыки»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286000"/>
            <a:ext cx="4297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2441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7D2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0736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482C20"/>
                </a:solidFill>
                <a:latin typeface="Arial"/>
              </a:defRPr>
            </a:pPr>
            <a:r>
              <a:t>Размещение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980944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Сканировать код ячейки</a:t>
            </a:r>
          </a:p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Проверить количество и место</a:t>
            </a:r>
          </a:p>
          <a:p>
            <a:pPr>
              <a:spcAft>
                <a:spcPts val="400"/>
              </a:spcAft>
              <a:defRPr sz="1700" b="0">
                <a:solidFill>
                  <a:srgbClr val="482C20"/>
                </a:solidFill>
                <a:latin typeface="Arial"/>
              </a:defRPr>
            </a:pPr>
            <a:r>
              <a:t>Кнопка «Подтвердить»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26280"/>
            <a:ext cx="4297680" cy="429768"/>
          </a:xfrm>
          <a:prstGeom prst="rect">
            <a:avLst/>
          </a:prstGeom>
          <a:solidFill>
            <a:srgbClr val="4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590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НЕДЕЛИ 1–2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7550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ТСД и принтер; настройка ПО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и справочников; обучение — 2 дня.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4526280"/>
            <a:ext cx="4297680" cy="429768"/>
          </a:xfrm>
          <a:prstGeom prst="rect">
            <a:avLst/>
          </a:prstGeom>
          <a:solidFill>
            <a:srgbClr val="4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4590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НЕДЕЛИ 3–6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17550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Переучёт 100% остатков на 30 местах.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Ежедневный разбор ошибок с бригадиром.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4526280"/>
            <a:ext cx="4297680" cy="429768"/>
          </a:xfrm>
          <a:prstGeom prst="rect">
            <a:avLst/>
          </a:prstGeom>
          <a:solidFill>
            <a:srgbClr val="4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4590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НЕДЕЛИ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517550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Сбор статистики; доработка интерфейса;</a:t>
            </a:r>
          </a:p>
          <a:p>
            <a:pPr>
              <a:spcAft>
                <a:spcPts val="400"/>
              </a:spcAft>
              <a:defRPr sz="1800" b="0">
                <a:solidFill>
                  <a:srgbClr val="482C20"/>
                </a:solidFill>
                <a:latin typeface="Arial"/>
              </a:defRPr>
            </a:pPr>
            <a:r>
              <a:t>расчёт фактической экономии.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172200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715B4C"/>
                </a:solidFill>
                <a:latin typeface="Arial"/>
              </a:defRPr>
            </a:pPr>
            <a:r>
              <a:t>KPI ПИЛОТА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675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7391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7D23"/>
                </a:solidFill>
                <a:latin typeface="Arial"/>
              </a:defRPr>
            </a:pPr>
            <a:r>
              <a:t>15 → 3 мин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72237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482C20"/>
                </a:solidFill>
                <a:latin typeface="Arial"/>
              </a:defRPr>
            </a:pPr>
            <a:r>
              <a:t>Поиск пачки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6675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67391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7D23"/>
                </a:solidFill>
                <a:latin typeface="Arial"/>
              </a:defRPr>
            </a:pPr>
            <a:r>
              <a:t>0 случаев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72237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482C20"/>
                </a:solidFill>
                <a:latin typeface="Arial"/>
              </a:defRPr>
            </a:pPr>
            <a:r>
              <a:t>Пересорт плавки / партии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6675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67391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7D23"/>
                </a:solidFill>
                <a:latin typeface="Arial"/>
              </a:defRPr>
            </a:pPr>
            <a:r>
              <a:t>≤ 0,5%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72237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482C20"/>
                </a:solidFill>
                <a:latin typeface="Arial"/>
              </a:defRPr>
            </a:pPr>
            <a:r>
              <a:t>Расхождение факта с базой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89920" y="6675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27080" y="67391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57D23"/>
                </a:solidFill>
                <a:latin typeface="Arial"/>
              </a:defRPr>
            </a:pPr>
            <a:r>
              <a:t>×2 быстрее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72237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482C20"/>
                </a:solidFill>
                <a:latin typeface="Arial"/>
              </a:defRPr>
            </a:pPr>
            <a:r>
              <a:t>Инвентаризация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402336" cy="68580"/>
          </a:xfrm>
          <a:prstGeom prst="rect">
            <a:avLst/>
          </a:prstGeom>
          <a:solidFill>
            <a:srgbClr val="FDB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84632"/>
            <a:ext cx="402336" cy="68580"/>
          </a:xfrm>
          <a:prstGeom prst="rect">
            <a:avLst/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85216"/>
            <a:ext cx="402336" cy="68580"/>
          </a:xfrm>
          <a:prstGeom prst="rect">
            <a:avLst/>
          </a:prstGeom>
          <a:solidFill>
            <a:srgbClr val="ED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ЕВРАЗ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4297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E7D9C9"/>
                </a:solidFill>
                <a:latin typeface="Arial"/>
              </a:defRPr>
            </a:pPr>
            <a:r>
              <a:t>СКЛАД МЕТАЛЛОПРОКАТА / ПРОСЛЕЖИВАЕМОСТЬ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1335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Стоимость пилота и ожидаемый эффект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82496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DB735"/>
                </a:solidFill>
                <a:latin typeface="Arial"/>
              </a:defRPr>
            </a:pPr>
            <a:r>
              <a:t>07 / Бюджет 450 000 ₽ • экономическая оценка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744968"/>
            <a:ext cx="13350240" cy="10972"/>
          </a:xfrm>
          <a:prstGeom prst="rect">
            <a:avLst/>
          </a:prstGeom>
          <a:solidFill>
            <a:srgbClr val="71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7872983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E7D9C9"/>
                </a:solidFill>
                <a:latin typeface="Arial"/>
              </a:defRPr>
            </a:pPr>
            <a:r>
              <a:t>ПАЧКА  •  ПЛАВКА  •  ДОКУМЕНТ О КАЧЕСТВЕ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78272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E7D9C9"/>
                </a:solidFill>
                <a:latin typeface="Arial"/>
              </a:defRPr>
            </a:pPr>
            <a:r>
              <a:t>05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DB735"/>
                </a:solidFill>
                <a:latin typeface="Arial"/>
              </a:defRPr>
            </a:pPr>
            <a:r>
              <a:t>Смета на 2 месяца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ТСД: 2 защищённых устройства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9260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100 000 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10712"/>
            <a:ext cx="6355080" cy="9144"/>
          </a:xfrm>
          <a:prstGeom prst="rect">
            <a:avLst/>
          </a:prstGeom>
          <a:solidFill>
            <a:srgbClr val="71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Промышленный принтер этикеток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355701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80 000 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41648"/>
            <a:ext cx="6355080" cy="9144"/>
          </a:xfrm>
          <a:prstGeom prst="rect">
            <a:avLst/>
          </a:prstGeom>
          <a:solidFill>
            <a:srgbClr val="71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8795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Бирки, этикетки, карманы, стяжки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41879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40 000 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72584"/>
            <a:ext cx="6355080" cy="9144"/>
          </a:xfrm>
          <a:prstGeom prst="rect">
            <a:avLst/>
          </a:prstGeom>
          <a:solidFill>
            <a:srgbClr val="71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18888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Доработка ПО: 1С, офлайн, QR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481888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200 000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6355080" cy="9144"/>
          </a:xfrm>
          <a:prstGeom prst="rect">
            <a:avLst/>
          </a:prstGeom>
          <a:solidFill>
            <a:srgbClr val="71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9824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Обучение и настройка Wi-Fi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544982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30 000 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934456"/>
            <a:ext cx="6355080" cy="9144"/>
          </a:xfrm>
          <a:prstGeom prst="rect">
            <a:avLst/>
          </a:prstGeom>
          <a:solidFill>
            <a:srgbClr val="71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6309360"/>
            <a:ext cx="6446520" cy="777240"/>
          </a:xfrm>
          <a:prstGeom prst="roundRect">
            <a:avLst>
              <a:gd name="adj" fmla="val 8000"/>
            </a:avLst>
          </a:prstGeom>
          <a:solidFill>
            <a:srgbClr val="F5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739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ИТОГО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645566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450 000 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2860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DB735"/>
                </a:solidFill>
                <a:latin typeface="Arial"/>
              </a:defRPr>
            </a:pPr>
            <a:r>
              <a:t>Цена ошибки в одной пачке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916936"/>
            <a:ext cx="6126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4,4 т × 70 000 ₽ = 308 000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675887"/>
            <a:ext cx="5989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7D9C9"/>
                </a:solidFill>
                <a:latin typeface="Arial"/>
              </a:defRPr>
            </a:pPr>
            <a:r>
              <a:t>Возможные убытки или замороженные средства. Ошибка плавки ведёт к риску брака и штрафов; неверный остаток — к простоям.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4892040"/>
            <a:ext cx="6080760" cy="1271016"/>
          </a:xfrm>
          <a:prstGeom prst="roundRect">
            <a:avLst>
              <a:gd name="adj" fmla="val 8000"/>
            </a:avLst>
          </a:prstGeom>
          <a:solidFill>
            <a:srgbClr val="5B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5056632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DB735"/>
                </a:solidFill>
                <a:latin typeface="Arial"/>
              </a:defRPr>
            </a:pPr>
            <a:r>
              <a:t>Ориентир окупаемости: 1–2 месяца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522976"/>
            <a:ext cx="5532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При снижении ошибок на 50% и предотвращении 2–3 ошибок в месяц.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6373368"/>
            <a:ext cx="59436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Дополнительно: быстрее отгрузка и меньше трудозатраты на инвентаризацию.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70683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E7D9C9"/>
                </a:solidFill>
                <a:latin typeface="Arial"/>
              </a:defRPr>
            </a:pPr>
            <a:r>
              <a:t>Оценка условная: высвобождение запасов не равно прибыли; эффект проверяется по итогам пилота.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Прослеживаемость металлопроката — пилот на 30 мест</dc:title>
  <dc:subject>Маркировка, разделение пачек, офлайн-учёт и экономика пилота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